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xels-codioful-7135012123238943709849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F A S H I O N W A V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Retail Sales Performance</a:t>
            </a:r>
            <a:br/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97180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FY 2023–2024  |  Business Intelligence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493008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  <a:latin typeface="Aptos"/>
              </a:defRPr>
            </a:pPr>
            <a:r>
              <a:t>50 stores across India  •  100K transactions  •  3 product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9893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Prepared from the completed Power BI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Project Objectives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Business goals, data scope and preparation used for 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4864" cy="14173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33101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OBJECTIVE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3310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1F34"/>
                </a:solidFill>
                <a:latin typeface="Aptos"/>
              </a:defRPr>
            </a:pPr>
            <a:r>
              <a:t>Increase weekend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68296"/>
            <a:ext cx="3310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Target: +15% next quarter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34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234440"/>
            <a:ext cx="54864" cy="141732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362456"/>
            <a:ext cx="33101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OBJECTIVE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627632"/>
            <a:ext cx="3310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1F34"/>
                </a:solidFill>
                <a:latin typeface="Aptos"/>
              </a:defRPr>
            </a:pPr>
            <a:r>
              <a:t>Improve profitability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68296"/>
            <a:ext cx="3310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Identify weak categories and stores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234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234440"/>
            <a:ext cx="54864" cy="1417320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362456"/>
            <a:ext cx="33101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OBJECTIVE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310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1F34"/>
                </a:solidFill>
                <a:latin typeface="Aptos"/>
              </a:defRPr>
            </a:pPr>
            <a:r>
              <a:t>Optimize discounting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68296"/>
            <a:ext cx="3310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Protect margin while driving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71800"/>
            <a:ext cx="5532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2971800"/>
            <a:ext cx="73152" cy="242316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099816"/>
            <a:ext cx="5212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DATA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5584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Jan 2023 – Dec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67912"/>
            <a:ext cx="5212080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100,000 transactions across 50 stores and 3 categories: Clothing, Accessories and Shoes.</a:t>
            </a:r>
            <a:br/>
            <a:br/>
            <a:r>
              <a:t>11 required fields were analyzed, including price, cost, discount, customer type and payment mode.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971800"/>
            <a:ext cx="5394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2971800"/>
            <a:ext cx="73152" cy="242316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099816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55848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Cleaning before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67912"/>
            <a:ext cx="5074920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• Missing Discount values → 0% (no discount)</a:t>
            </a:r>
            <a:br/>
            <a:r>
              <a:t>• Missing CustomerType values → Unknown</a:t>
            </a:r>
            <a:br/>
            <a:r>
              <a:t>• Net Sales = Quantity × Unit Price × (1 − Discount)</a:t>
            </a:r>
            <a:br/>
            <a:r>
              <a:t>• Profit = Net Sales − Quantity × CostPerUnit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Executive Dashboard — Two-Year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A high-level view of revenue, profitability, customer activity and payment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148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1170432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71016"/>
            <a:ext cx="18928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36192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1F34"/>
                </a:solidFill>
                <a:latin typeface="Aptos"/>
              </a:defRPr>
            </a:pPr>
            <a:r>
              <a:t>₹24.35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29968"/>
            <a:ext cx="1892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Net of discounts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143000"/>
            <a:ext cx="2148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143000"/>
            <a:ext cx="54864" cy="1170432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271016"/>
            <a:ext cx="18928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536192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1F34"/>
                </a:solidFill>
                <a:latin typeface="Aptos"/>
              </a:defRPr>
            </a:pPr>
            <a:r>
              <a:t>₹8.06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029968"/>
            <a:ext cx="1892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Profit after product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143000"/>
            <a:ext cx="2148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4920" y="1143000"/>
            <a:ext cx="54864" cy="1170432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271016"/>
            <a:ext cx="18928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536192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1F34"/>
                </a:solidFill>
                <a:latin typeface="Aptos"/>
              </a:defRPr>
            </a:pPr>
            <a:r>
              <a:t>33.1%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029968"/>
            <a:ext cx="1892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Profit / Net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143000"/>
            <a:ext cx="2148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143000"/>
            <a:ext cx="54864" cy="1170432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25512" y="1271016"/>
            <a:ext cx="18928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1536192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1F34"/>
                </a:solidFill>
                <a:latin typeface="Aptos"/>
              </a:defRPr>
            </a:pPr>
            <a:r>
              <a:t>₹2,435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029968"/>
            <a:ext cx="1892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Revenue per transaction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143000"/>
            <a:ext cx="2148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20" y="1143000"/>
            <a:ext cx="54864" cy="1170432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11512" y="1271016"/>
            <a:ext cx="18928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1536192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1F34"/>
                </a:solidFill>
                <a:latin typeface="Aptos"/>
              </a:defRPr>
            </a:pPr>
            <a:r>
              <a:t>203.6K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2029968"/>
            <a:ext cx="1892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Across all categories</a:t>
            </a:r>
          </a:p>
        </p:txBody>
      </p:sp>
      <p:pic>
        <p:nvPicPr>
          <p:cNvPr id="31" name="Picture 30" descr="payme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3794760" cy="2971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617720" y="2697480"/>
            <a:ext cx="32461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17720" y="2697480"/>
            <a:ext cx="73152" cy="269748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825496"/>
            <a:ext cx="2926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BUSINESS 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081528"/>
            <a:ext cx="2926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Sales are concentrated in core drivers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593592"/>
            <a:ext cx="2926079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Returning customers contribute 57.0% of revenue.</a:t>
            </a:r>
            <a:br/>
            <a:br/>
            <a:r>
              <a:t>Shoes contribute 53.9% of revenue, making category mix a major profitability lever.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2697480"/>
            <a:ext cx="352044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65008" y="2697480"/>
            <a:ext cx="73152" cy="269748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282549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PAYMENT MIX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30815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Card 45.3% | Digital 37.2%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593592"/>
            <a:ext cx="320040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Cash contributes 17.5% of revenue. Digital already represents 37.2%, creating a strong base for targeted digital offers.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Q1 — Product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Which categories generate the highest revenue and profit?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04</a:t>
            </a:r>
          </a:p>
        </p:txBody>
      </p:sp>
      <p:pic>
        <p:nvPicPr>
          <p:cNvPr id="6" name="Picture 5" descr="category_revenu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46520" cy="3429000"/>
          </a:xfrm>
          <a:prstGeom prst="rect">
            <a:avLst/>
          </a:prstGeom>
        </p:spPr>
      </p:pic>
      <p:pic>
        <p:nvPicPr>
          <p:cNvPr id="7" name="Picture 6" descr="category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34440"/>
            <a:ext cx="448056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892040"/>
            <a:ext cx="35661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4892040"/>
            <a:ext cx="73152" cy="1170432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020055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7608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rPr dirty="0"/>
              <a:t>Shoes lead revenue at </a:t>
            </a:r>
            <a:r>
              <a:rPr lang="en-IN" dirty="0"/>
              <a:t>₹13.13 Cr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5788152"/>
            <a:ext cx="32461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53.9% of total sales and ₹4.40 Cr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892040"/>
            <a:ext cx="35661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4892040"/>
            <a:ext cx="73152" cy="1170432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020055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27608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Clothing leads volume at 73.3K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788152"/>
            <a:ext cx="32461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High unit volume makes availability and assortment important.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92040"/>
            <a:ext cx="3657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4892040"/>
            <a:ext cx="73152" cy="1170432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5020055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E74C7C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276088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Accessories margin: 31.5%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788152"/>
            <a:ext cx="333756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Improve pricing, mix and bundles rather than relying on deep discounts.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Q2 — Weekend vs Weekday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How do weekend sales compare, and where is the opportunity?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05</a:t>
            </a:r>
          </a:p>
        </p:txBody>
      </p:sp>
      <p:pic>
        <p:nvPicPr>
          <p:cNvPr id="6" name="Picture 5" descr="weekend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3337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12801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4864" cy="123444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408176"/>
            <a:ext cx="21671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WEEKEND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673351"/>
            <a:ext cx="2167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81F34"/>
                </a:solidFill>
                <a:latin typeface="Aptos"/>
              </a:defRPr>
            </a:pPr>
            <a:r>
              <a:t>₹6.93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31136"/>
            <a:ext cx="2167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28.5% of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2801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280160"/>
            <a:ext cx="54864" cy="123444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42832" y="1408176"/>
            <a:ext cx="21671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WEEKEND / WEEKDAY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1673351"/>
            <a:ext cx="2167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81F34"/>
                </a:solidFill>
                <a:latin typeface="Aptos"/>
              </a:defRPr>
            </a:pPr>
            <a:r>
              <a:t>0.40×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2231136"/>
            <a:ext cx="2167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Sales 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029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73152" cy="214884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916936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72968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Weekend is not materially weaker on a per-day basis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85031"/>
            <a:ext cx="470916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Weekend revenue share is 28.5% versus ~28.6% of calendar days. Average sales/day are ₹3.3L on weekends vs ₹3.3L on weekdays — only about 0.6% lower.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7082"/>
                </a:solidFill>
                <a:latin typeface="Aptos"/>
              </a:defRPr>
            </a:pPr>
            <a:r>
              <a:t>Business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30368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1F34"/>
                </a:solidFill>
                <a:latin typeface="Aptos"/>
              </a:defRPr>
            </a:pPr>
            <a:r>
              <a:t>The +15% objective should be treated as a growth opportunity, not a recovery from a large per-day sales gap.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Sales Trend &amp;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Monthly performance reveals recurring peaks and softer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06</a:t>
            </a:r>
          </a:p>
        </p:txBody>
      </p:sp>
      <p:pic>
        <p:nvPicPr>
          <p:cNvPr id="6" name="Picture 5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8006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4800600"/>
            <a:ext cx="73152" cy="123444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928616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PEAK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84648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Jul 2023 leads at ₹1.06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96712"/>
            <a:ext cx="3337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Use recurring high-demand periods for inventory and campaign 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8006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4800600"/>
            <a:ext cx="73152" cy="1234440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4928616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DEA4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184648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Feb 2023 is the softest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696712"/>
            <a:ext cx="3337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Use softer periods for targeted clearance, bundles and customer reactivation.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8006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4800600"/>
            <a:ext cx="73152" cy="123444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92861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ANALYST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18464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rPr dirty="0"/>
              <a:t>Seasonality is visible, but external drivers are not in the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96712"/>
            <a:ext cx="3200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rPr dirty="0"/>
              <a:t>Use the trend for planning; validate festival/event effects with business data before attributing causality.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Q3 — Impact of Discounting on Profit Margins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How does discount depth affect profitability?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07</a:t>
            </a:r>
          </a:p>
        </p:txBody>
      </p:sp>
      <p:pic>
        <p:nvPicPr>
          <p:cNvPr id="6" name="Picture 5" descr="discoun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34440"/>
            <a:ext cx="42976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73152" cy="1353312"/>
          </a:xfrm>
          <a:prstGeom prst="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362456"/>
            <a:ext cx="3977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BE4242"/>
                </a:solidFill>
                <a:latin typeface="Aptos"/>
              </a:defRPr>
            </a:pPr>
            <a:r>
              <a:t>MARGIN EROSION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18488"/>
            <a:ext cx="3977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40.5% → 14.9%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30552"/>
            <a:ext cx="39776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Profit margin falls sharply from no-discount transactions to the 26–30% discount 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788920"/>
            <a:ext cx="42976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2788920"/>
            <a:ext cx="73152" cy="1353312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2916936"/>
            <a:ext cx="3977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WHERE THE VOLUME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172968"/>
            <a:ext cx="3977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60.1% of transactions use 1–15%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85031"/>
            <a:ext cx="39776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The low-discount tier is the dominant promotional band, with a 33.4% margin.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43400"/>
            <a:ext cx="42976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343400"/>
            <a:ext cx="73152" cy="1353312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4471416"/>
            <a:ext cx="3977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727448"/>
            <a:ext cx="3977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Make deeper discounts targeted, not routine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239512"/>
            <a:ext cx="39776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Keep standard promotions around ≤15%; use 16–20% selectively and reserve 26–30% for controlled clearance or strategic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Q4 — Store Performance: Top vs Bottom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Which stores are underperforming, and what does the data suggest?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08</a:t>
            </a:r>
          </a:p>
        </p:txBody>
      </p:sp>
      <p:pic>
        <p:nvPicPr>
          <p:cNvPr id="6" name="Picture 5" descr="store_top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5379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3444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54864" cy="11887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1362456"/>
            <a:ext cx="1709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TOP-5 AVG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627632"/>
            <a:ext cx="1709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1F34"/>
                </a:solidFill>
                <a:latin typeface="Aptos"/>
              </a:defRPr>
            </a:pPr>
            <a:r>
              <a:t>₹5.79M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139696"/>
            <a:ext cx="1709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per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23444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64040" y="1234440"/>
            <a:ext cx="54864" cy="1188720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28632" y="1362456"/>
            <a:ext cx="1709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BOTTOM-5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1627632"/>
            <a:ext cx="1709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1F34"/>
                </a:solidFill>
                <a:latin typeface="Aptos"/>
              </a:defRPr>
            </a:pPr>
            <a:r>
              <a:t>₹4.02M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2139696"/>
            <a:ext cx="1709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697082"/>
                </a:solidFill>
                <a:latin typeface="Aptos"/>
              </a:defRPr>
            </a:pPr>
            <a:r>
              <a:t>per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69748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2697480"/>
            <a:ext cx="73152" cy="14173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825496"/>
            <a:ext cx="3794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PERFORMANCE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081528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43.8% higher sales in the top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593592"/>
            <a:ext cx="37947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The gap is primarily a sales-volume issue. Store margins remain relatively close to the overall margin.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9768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4297680"/>
            <a:ext cx="73152" cy="141732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79" y="4425696"/>
            <a:ext cx="3794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POSSIBLE CAUSES TO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681728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Transaction volume, assortment and local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193792"/>
            <a:ext cx="37947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The dataset does not contain footfall, staffing, local marketing or inventory depth, so these are hypotheses—not proven causes.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Q5 — Customer Segmentation &amp; Targeted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Segment customers using purchase behavior available in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09</a:t>
            </a:r>
          </a:p>
        </p:txBody>
      </p:sp>
      <p:pic>
        <p:nvPicPr>
          <p:cNvPr id="6" name="Picture 5" descr="customer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69280" cy="3246120"/>
          </a:xfrm>
          <a:prstGeom prst="rect">
            <a:avLst/>
          </a:prstGeom>
        </p:spPr>
      </p:pic>
      <p:pic>
        <p:nvPicPr>
          <p:cNvPr id="7" name="Picture 6" descr="customer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0749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617720"/>
            <a:ext cx="5394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4617720"/>
            <a:ext cx="73152" cy="132588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745736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RETURNING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01768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57.0% of revenue | AOV ₹2,451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13831"/>
            <a:ext cx="50749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Priority: loyalty, repeat-purchase journeys, early access and category cross-sell. Margin is slightly above New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6177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4617720"/>
            <a:ext cx="73152" cy="132588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4745736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NEW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001768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42.6% of revenue | AOV ₹2,413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513831"/>
            <a:ext cx="49834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Priority: post-purchase re-engagement, first-to-second purchase conversion and targeted category recommendations.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EDA Deep Dive — Payment Mix &amp; Product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Supporting signals for campaign, assortment and checkout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10</a:t>
            </a:r>
          </a:p>
        </p:txBody>
      </p:sp>
      <p:pic>
        <p:nvPicPr>
          <p:cNvPr id="6" name="Picture 5" descr="payme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251960" cy="3246120"/>
          </a:xfrm>
          <a:prstGeom prst="rect">
            <a:avLst/>
          </a:prstGeom>
        </p:spPr>
      </p:pic>
      <p:pic>
        <p:nvPicPr>
          <p:cNvPr id="7" name="Picture 6" descr="units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234440"/>
            <a:ext cx="63093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709160"/>
            <a:ext cx="3611880" cy="1271016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73152" cy="11887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837176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F4CFF"/>
                </a:solidFill>
                <a:latin typeface="Aptos"/>
              </a:defRPr>
            </a:pPr>
            <a:r>
              <a:t>PAYMENT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9320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Card leads at 45.3%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05272"/>
            <a:ext cx="329184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Digital is already 37.2% of revenue — useful for targeted digital offers.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709160"/>
            <a:ext cx="3611880" cy="1271016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4709160"/>
            <a:ext cx="73152" cy="118872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4837176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A499"/>
                </a:solidFill>
                <a:latin typeface="Aptos"/>
              </a:defRPr>
            </a:pPr>
            <a:r>
              <a:t>VOLUME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09320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Clothing: 73.3K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5605272"/>
            <a:ext cx="329184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Maintain size availability and breadth in the highest-volume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4709160"/>
            <a:ext cx="3337560" cy="1271016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4709160"/>
            <a:ext cx="73152" cy="1188720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4837176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E74C7C"/>
                </a:solidFill>
                <a:latin typeface="Aptos"/>
              </a:defRPr>
            </a:pPr>
            <a:r>
              <a:t>REVENUE LEADER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509320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181F34"/>
                </a:solidFill>
                <a:latin typeface="Aptos"/>
              </a:defRPr>
            </a:pPr>
            <a:r>
              <a:t>Shoes: ₹13.13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5605272"/>
            <a:ext cx="30175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F263A"/>
                </a:solidFill>
                <a:latin typeface="Aptos"/>
              </a:defRPr>
            </a:pPr>
            <a:r>
              <a:t>Use pricing and promotion discipline because Shoes carry the largest revenue pool.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1F34"/>
                </a:solidFill>
                <a:latin typeface="Aptos Display"/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32104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082"/>
                </a:solidFill>
                <a:latin typeface="Aptos"/>
              </a:defRPr>
            </a:pPr>
            <a:r>
              <a:t>Prioritized actions directly linked to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082"/>
                </a:solidFill>
                <a:latin typeface="Aptos"/>
              </a:defRPr>
            </a:pPr>
            <a:r>
              <a:t>FashionWave | Retail Sales Performance Analysis |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F4CFF"/>
                </a:solidFill>
                <a:latin typeface="Aptos"/>
              </a:defRPr>
            </a:pPr>
            <a:r>
              <a:t>QUICK WINS | 0–3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97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7A499"/>
                </a:solidFill>
                <a:latin typeface="Aptos"/>
              </a:defRPr>
            </a:pPr>
            <a:r>
              <a:t>LONGER-TERM | 3–12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4864" cy="91440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36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Pilot weekend-only offers on selected high-demand SKUs; measure incremental sales rather than blanket discounting.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51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54864" cy="91440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779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044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Keep routine discounts around ≤15%; approve deeper offers only for targeted campaigns or clearance.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794760"/>
            <a:ext cx="54864" cy="914400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922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87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Launch returning-customer loyalty rewards and first-to-second-purchase journeys for New customers.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37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937760"/>
            <a:ext cx="54864" cy="914400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065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330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Create a bottom-store action list using transactions, sales and margin; test local campaigns before scaling.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1508760"/>
            <a:ext cx="54864" cy="914400"/>
          </a:xfrm>
          <a:prstGeom prst="rect">
            <a:avLst/>
          </a:prstGeom>
          <a:solidFill>
            <a:srgbClr val="27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1636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1901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Build a store/category KPI scorecard with Sales, AOV, Margin, Units and Discount Impact.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651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2651760"/>
            <a:ext cx="54864" cy="91440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2779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3044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Use customer purchase history to move beyond New/Returning into richer behavioral segments when more data becomes available.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94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3794760"/>
            <a:ext cx="54864" cy="914400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1" y="3922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4187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Strengthen Shoes pricing and supplier-cost review because Shoes drive the largest revenue and profit pool.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937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4937760"/>
            <a:ext cx="54864" cy="914400"/>
          </a:xfrm>
          <a:prstGeom prst="rect">
            <a:avLst/>
          </a:prstGeom>
          <a:solidFill>
            <a:srgbClr val="E74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1" y="5065776"/>
            <a:ext cx="4910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97082"/>
                </a:solidFill>
                <a:latin typeface="Aptos"/>
              </a:defRPr>
            </a:pPr>
            <a:r>
              <a:t>ACTION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5330952"/>
            <a:ext cx="4910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1F34"/>
                </a:solidFill>
                <a:latin typeface="Aptos"/>
              </a:defRPr>
            </a:pPr>
            <a:r>
              <a:t>Use monthly seasonality to plan inventory, campaigns and clearance windows ahead of demand changes.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327648"/>
            <a:ext cx="8961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697082"/>
                </a:solidFill>
                <a:latin typeface="Aptos"/>
              </a:defRPr>
            </a:pPr>
            <a:r>
              <a:t>Source: FashionWave sales dataset | Power BI analysis | Values rounded for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F A S H I O N W A V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From descriptive analysis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1168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BEEF7"/>
                </a:solidFill>
                <a:latin typeface="Aptos"/>
              </a:defRPr>
            </a:pPr>
            <a:r>
              <a:t>The analysis points to three priorities: protect margin, grow high-value customer relationships, and use store/category insights to target growth rather than applying broad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3383280" cy="1508760"/>
          </a:xfrm>
          <a:prstGeom prst="roundRect">
            <a:avLst/>
          </a:prstGeom>
          <a:solidFill>
            <a:srgbClr val="242C46"/>
          </a:solidFill>
          <a:ln>
            <a:solidFill>
              <a:srgbClr val="42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331012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B7BED2"/>
                </a:solidFill>
                <a:latin typeface="Aptos"/>
              </a:defRPr>
            </a:pPr>
            <a:r>
              <a:t>01 |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675887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33.1% overall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160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DCE0EC"/>
                </a:solidFill>
                <a:latin typeface="Aptos"/>
              </a:defRPr>
            </a:pPr>
            <a:r>
              <a:t>Discount depth is the clearest margin lever.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154680"/>
            <a:ext cx="3383280" cy="1508760"/>
          </a:xfrm>
          <a:prstGeom prst="roundRect">
            <a:avLst/>
          </a:prstGeom>
          <a:solidFill>
            <a:srgbClr val="242C46"/>
          </a:solidFill>
          <a:ln>
            <a:solidFill>
              <a:srgbClr val="42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31012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B7BED2"/>
                </a:solidFill>
                <a:latin typeface="Aptos"/>
              </a:defRPr>
            </a:pPr>
            <a:r>
              <a:t>02 |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75887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57.0% revenue from Returning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DCE0EC"/>
                </a:solidFill>
                <a:latin typeface="Aptos"/>
              </a:defRPr>
            </a:pPr>
            <a:r>
              <a:t>Retention and repeat purchase are key growth levers.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3154680"/>
            <a:ext cx="3383280" cy="1508760"/>
          </a:xfrm>
          <a:prstGeom prst="roundRect">
            <a:avLst/>
          </a:prstGeom>
          <a:solidFill>
            <a:srgbClr val="242C46"/>
          </a:solidFill>
          <a:ln>
            <a:solidFill>
              <a:srgbClr val="42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331012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B7BED2"/>
                </a:solidFill>
                <a:latin typeface="Aptos"/>
              </a:defRPr>
            </a:pPr>
            <a:r>
              <a:t>03 |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675887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53.9% from Shoes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416052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DCE0EC"/>
                </a:solidFill>
                <a:latin typeface="Aptos"/>
              </a:defRPr>
            </a:pPr>
            <a:r>
              <a:t>Prioritize the largest revenue pool while protecting 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1372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Amrish Yadav</cp:lastModifiedBy>
  <cp:revision>2</cp:revision>
  <dcterms:created xsi:type="dcterms:W3CDTF">2013-01-27T09:14:16Z</dcterms:created>
  <dcterms:modified xsi:type="dcterms:W3CDTF">2026-10-05T13:57:45Z</dcterms:modified>
  <cp:category/>
</cp:coreProperties>
</file>